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Llama 3.3 70B (open)</c:v>
                </c:pt>
              </c:strCache>
            </c:strRef>
          </c:tx>
          <c:spPr>
            <a:solidFill>
              <a:srgbClr val="1B998B"/>
            </a:solidFill>
          </c:spPr>
          <c:cat>
            <c:strRef>
              <c:f>Sheet1!$A$2:$A$5</c:f>
              <c:strCache>
                <c:ptCount val="4"/>
                <c:pt idx="0">
                  <c:v>Tool use</c:v>
                </c:pt>
                <c:pt idx="1">
                  <c:v>Decision
correctness</c:v>
                </c:pt>
                <c:pt idx="2">
                  <c:v>Error
recovery</c:v>
                </c:pt>
                <c:pt idx="3">
                  <c:v>Overall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  <c:pt idx="3">
                  <c:v>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GPT-4o (closed)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Sheet1!$A$2:$A$5</c:f>
              <c:strCache>
                <c:ptCount val="4"/>
                <c:pt idx="0">
                  <c:v>Tool use</c:v>
                </c:pt>
                <c:pt idx="1">
                  <c:v>Decision
correctness</c:v>
                </c:pt>
                <c:pt idx="2">
                  <c:v>Error
recovery</c:v>
                </c:pt>
                <c:pt idx="3">
                  <c:v>Overall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5.0</c:v>
                </c:pt>
                <c:pt idx="1">
                  <c:v>4.4</c:v>
                </c:pt>
                <c:pt idx="2">
                  <c:v>4.33</c:v>
                </c:pt>
                <c:pt idx="3">
                  <c:v>4.6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 3.1 8B (open)</c:v>
                </c:pt>
              </c:strCache>
            </c:strRef>
          </c:tx>
          <c:spPr>
            <a:solidFill>
              <a:srgbClr val="E8A33D"/>
            </a:solidFill>
          </c:spPr>
          <c:cat>
            <c:strRef>
              <c:f>Sheet1!$A$2:$A$5</c:f>
              <c:strCache>
                <c:ptCount val="4"/>
                <c:pt idx="0">
                  <c:v>Tool use</c:v>
                </c:pt>
                <c:pt idx="1">
                  <c:v>Decision
correctness</c:v>
                </c:pt>
                <c:pt idx="2">
                  <c:v>Error
recovery</c:v>
                </c:pt>
                <c:pt idx="3">
                  <c:v>Overall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4.4</c:v>
                </c:pt>
                <c:pt idx="1">
                  <c:v>3.2</c:v>
                </c:pt>
                <c:pt idx="2">
                  <c:v>3.67</c:v>
                </c:pt>
                <c:pt idx="3">
                  <c:v>3.87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per autonomous reroute (USD)</c:v>
                </c:pt>
              </c:strCache>
            </c:strRef>
          </c:tx>
          <c:spPr>
            <a:solidFill>
              <a:srgbClr val="1B998B"/>
            </a:solidFill>
          </c:spPr>
          <c:cat>
            <c:strRef>
              <c:f>Sheet1!$A$2:$A$4</c:f>
              <c:strCache>
                <c:ptCount val="3"/>
                <c:pt idx="0">
                  <c:v>Llama 3.1 8B</c:v>
                </c:pt>
                <c:pt idx="1">
                  <c:v>Llama 3.3 70B</c:v>
                </c:pt>
                <c:pt idx="2">
                  <c:v>Claude (frontier, est.)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0.0002</c:v>
                </c:pt>
                <c:pt idx="1">
                  <c:v>0.0028</c:v>
                </c:pt>
                <c:pt idx="2">
                  <c:v>0.024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pitch in one line: we built a working autonomous rerouting agent, evaluated two open-source models on it by scoring their decision-making step-by-step (not just outcomes), and we have a clear, defensible recommendation on production-readiness. 15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pain around cost-of-delay and the human bottleneck. The punchline is the last bullet: this is automatable, but automation that books real freight has to be trustworthy. That 'if it can be trusted' sets up why we evaluated so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ingest → evaluate (calls the — simulated — carrier API) → decide &amp; execute. The amber box is the safety net: any tool failure or a no-viable-option situation retries once and then hands off to a human instead of crashing or guessing. Emphasise that LangGraph's explicit graph is what makes the safety behaviour inspectable and gives us the step-by-step logs the evaluation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heart of the technical contribution, explained for non-technical stakeholders. The student analogy lands the point: for an agent that takes real actions, outcome-only testing is dangerous because a model can get the right answer for the wrong reason — or, as we found, the right reasoning and then the wrong action. The 'answer key' is a policy oracle we compute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headline: we ran a real frontier closed model (GPT-4o) against the open Llamas on the identical harness. GPT-4o was safe (0 violations) but not flawless — it lost decision points on the ambiguous tight-margin case, the SAME slip the 8B made. The open 70B was the single best performer with zero violations, at a fraction of the cost. So for this narrow, well-specified task, an open model is not a fallback — it's the recommended primary.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The 8B doesn't fail by being confused — it fails by being inconsistent between what it concludes and what it does, and by forcing a policy-violating booking rather than deferring. For an agent that spends money and commits freight, that is a safety defect, not a quality nit. And crucially it is invisible unless you inspect the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direct answer the brief demands — no 'both are good' hedge. The 70B can go to production for this use case *if* wrapped in the deterministic guardrails we already built. The 8B should not execute autonomously at all; its role is cheap triage with a stronger model holding the execution rights. This also frames where a closed model like Claude fits: as the execution-gating model if the 70B ever proves insufficient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message: the architecture doesn't change from POC to prod — only the tool endpoints and the operational scaffolding around it. That de-risks the build. Call out the four production pillars: real APIs, guardrails, monitoring, cost controls. The model-routing point (8B triages, 70B decides) turns our finding into a cost lever.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 the cost conversation. The instinct is to pick the cheapest model, but at ~$0.003 per reroute the inference cost is a rounding error next to human labour and cost-of-delay. The decision must be made on trust/safety, not token price — which is the whole point of the evaluation. Claude's number is an estimate from public per-token pricing (not measured here). Model-routing is the one place cost genuinely matters: use the 8B for cheap read-only triage and reserve the expensive, trustworthy model for the irreversible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candid — evaluators trust a recommendation more when its limits are stated. The most important open item is running Claude through the same harness; the code already supports it, it just needs a key. The last bullet is an org question, not a tech one, and worth raising with product/ops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credible, staged path: prove the eval out and add the closed-model baseline first; then a shadow-mode integration that reasons on real alerts but doesn't book; then graduated autonomous execution with cost routing. Nothing goes live executing until shadow mode earns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theme: the technology is ready; the differentiator is a rigorous, trajectory-based evaluation that tells you which model to trust and how much to fence it.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Autonomous Carrier Rerouting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2200" b="0">
                <a:solidFill>
                  <a:srgbClr val="C9E4E0"/>
                </a:solidFill>
                <a:latin typeface="Calibri"/>
              </a:rPr>
              <a:t>Agentic AI that reroutes shipments through disruption — and knows when to ask a human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548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9FB3C8"/>
                </a:solidFill>
                <a:latin typeface="Calibri"/>
              </a:rPr>
              <a:t>Technical evaluation + product recommendation   ·   Llama 3.3 70B vs Llama 3.1 8B, real trajectory logs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B998B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"/>
              </a:rPr>
              <a:t>A delayed shipment is a race against the clock — and humans are the bottleneck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2011680" cy="381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0">
                <a:solidFill>
                  <a:srgbClr val="1A1A2E"/>
                </a:solidFill>
                <a:latin typeface="Calibri"/>
              </a:rPr>
              <a:t>•  A customs hold, port congestion, or carrier failure can add 14–40h to an ETA — on high-value, time-critical freight.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0">
                <a:solidFill>
                  <a:srgbClr val="1A1A2E"/>
                </a:solidFill>
                <a:latin typeface="Calibri"/>
              </a:rPr>
              <a:t>•  Today a human expediter notices, pulls up alternatives, weighs cost vs. speed vs. reliability, and rebooks — often hours later, often off-shift.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0">
                <a:solidFill>
                  <a:srgbClr val="1A1A2E"/>
                </a:solidFill>
                <a:latin typeface="Calibri"/>
              </a:rPr>
              <a:t>•  Every hour of latency compounds: missed connections, penalty clauses, spoiled goods.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•  The decision is repetitive and rule-based — a strong fit for an autonomous agent, IF it can be trusted to 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B998B"/>
                </a:solidFill>
                <a:latin typeface="Calibri"/>
              </a:rPr>
              <a:t>THE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"/>
              </a:rPr>
              <a:t>Three specialised agents, one explicit control 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2011680" cy="381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2514600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 · Ingestion</a:t>
            </a:r>
          </a:p>
          <a:p>
            <a:pPr algn="ctr"/>
            <a:r>
              <a:rPr sz="1050">
                <a:solidFill>
                  <a:srgbClr val="E8EEF2"/>
                </a:solidFill>
              </a:rPr>
              <a:t>parse alert, rate severity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2148840"/>
            <a:ext cx="2514600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 · Evaluation</a:t>
            </a:r>
          </a:p>
          <a:p>
            <a:pPr algn="ctr"/>
            <a:r>
              <a:rPr sz="1050">
                <a:solidFill>
                  <a:srgbClr val="E8EEF2"/>
                </a:solidFill>
              </a:rPr>
              <a:t>call carrier API, weigh trade-offs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2148840"/>
            <a:ext cx="2514600" cy="105156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 · Decision</a:t>
            </a:r>
          </a:p>
          <a:p>
            <a:pPr algn="ctr"/>
            <a:r>
              <a:rPr sz="1050">
                <a:solidFill>
                  <a:srgbClr val="E8EEF2"/>
                </a:solidFill>
              </a:rPr>
              <a:t>pick per policy, book reroute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89720" y="2148840"/>
            <a:ext cx="233172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✔ Rerouted</a:t>
            </a:r>
          </a:p>
          <a:p>
            <a:pPr algn="ctr"/>
            <a:r>
              <a:rPr sz="1050">
                <a:solidFill>
                  <a:srgbClr val="E8EEF2"/>
                </a:solidFill>
              </a:rPr>
              <a:t>booking confirmed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2587752"/>
            <a:ext cx="320040" cy="38100"/>
          </a:xfrm>
          <a:prstGeom prst="rect">
            <a:avLst/>
          </a:prstGeom>
          <a:solidFill>
            <a:srgbClr val="5B6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587752"/>
            <a:ext cx="320040" cy="38100"/>
          </a:xfrm>
          <a:prstGeom prst="rect">
            <a:avLst/>
          </a:prstGeom>
          <a:solidFill>
            <a:srgbClr val="5B6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69680" y="2587752"/>
            <a:ext cx="320040" cy="38100"/>
          </a:xfrm>
          <a:prstGeom prst="rect">
            <a:avLst/>
          </a:prstGeom>
          <a:solidFill>
            <a:srgbClr val="5B6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3749039"/>
            <a:ext cx="5166360" cy="9144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A1A2E"/>
                </a:solidFill>
              </a:rPr>
              <a:t>Fallback: tool fails or no compliant option  →  retry once  →  escalate to HUMAN REVIEW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3200400"/>
            <a:ext cx="38100" cy="548640"/>
          </a:xfrm>
          <a:prstGeom prst="rect">
            <a:avLst/>
          </a:prstGeom>
          <a:solidFill>
            <a:srgbClr val="5B6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02920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5B6470"/>
                </a:solidFill>
                <a:latin typeface="Calibri"/>
              </a:rPr>
              <a:t>Built on LangGraph: an explicit state machine, not an open-ended loop. The recovery rule — retry once, then escalate — is auditable, and every step is logged as a trajectory.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B998B"/>
                </a:solidFill>
                <a:latin typeface="Calibri"/>
              </a:rPr>
              <a:t>HOW WE EVALUATED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"/>
              </a:rPr>
              <a:t>We grade the working, not just the final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2011680" cy="381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•  Analogy: two students both write '42'. One reasoned it out; one copied a neighbour. Same answer — very different trust. You have to see the working.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800" b="0">
                <a:solidFill>
                  <a:srgbClr val="1A1A2E"/>
                </a:solidFill>
                <a:latin typeface="Calibri"/>
              </a:rPr>
              <a:t>•  So we log every step of the agent's decision — its reasoning, which tools it called, with what arguments, and what it finally did.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800" b="0">
                <a:solidFill>
                  <a:srgbClr val="1A1A2E"/>
                </a:solidFill>
                <a:latin typeface="Calibri"/>
              </a:rPr>
              <a:t>•  We score four things 1–5: tool use, decision correctness, error recovery, reasoning quality.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800" b="0">
                <a:solidFill>
                  <a:srgbClr val="1A1A2E"/>
                </a:solidFill>
                <a:latin typeface="Calibri"/>
              </a:rPr>
              <a:t>•  Three of the four are graded automatically against a policy 'answer key' — so the numbers are objective and reproducible, not opinion.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B998B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"/>
              </a:rPr>
              <a:t>Closed vs open: the open 70B matched the frontier model — and was safer than the small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2011680" cy="381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1965960"/>
          <a:ext cx="70408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46720" y="2194560"/>
            <a:ext cx="3749039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1">
                <a:solidFill>
                  <a:srgbClr val="0B2545"/>
                </a:solidFill>
                <a:latin typeface="Calibri"/>
              </a:rPr>
              <a:t>1–5, averaged over 5 disruption scenarios. Safety violations in ().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A1A2E"/>
                </a:solidFill>
                <a:latin typeface="Calibri"/>
              </a:rPr>
              <a:t>Llama 3.3 70B: 5.0 (0) — best overall.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A1A2E"/>
                </a:solidFill>
                <a:latin typeface="Calibri"/>
              </a:rPr>
              <a:t>GPT-4o closed: 4.6 (0) — safe, but 2 sub-optimal calls.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A1A2E"/>
                </a:solidFill>
                <a:latin typeface="Calibri"/>
              </a:rPr>
              <a:t>Llama 3.1 8B: 3.87 (1) — the only safety violation.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1">
                <a:solidFill>
                  <a:srgbClr val="1B776B"/>
                </a:solidFill>
                <a:latin typeface="Calibri"/>
              </a:rPr>
              <a:t>The open 70B matched the frontier model at ~1/10th the cost.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B998B"/>
                </a:solidFill>
                <a:latin typeface="Calibri"/>
              </a:rPr>
              <a:t>WHY THE AVERAGE 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"/>
              </a:rPr>
              <a:t>The critical finding: the small model acted against its own reasoning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2011680" cy="381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20240"/>
            <a:ext cx="10789920" cy="13716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>
                <a:solidFill>
                  <a:srgbClr val="0B2545"/>
                </a:solidFill>
              </a:rPr>
              <a:t>8B, on a case where EVERY carrier broke policy:</a:t>
            </a:r>
          </a:p>
          <a:p>
            <a:r>
              <a:rPr sz="1400">
                <a:solidFill>
                  <a:srgbClr val="D64550"/>
                </a:solidFill>
              </a:rPr>
              <a:t>Its analysis flagged the carriers as non-compliant — then it booked one anyway ($3,200 vs $3,000 cap; 0.85 vs 0.90 reliability floor). It should have escalated.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616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0">
                <a:solidFill>
                  <a:srgbClr val="1A1A2E"/>
                </a:solidFill>
                <a:latin typeface="Calibri"/>
              </a:rPr>
              <a:t>•  On a tight trade-off, the 8B ranked the fastest carrier #1 in its notes — then booked a slower one.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0">
                <a:solidFill>
                  <a:srgbClr val="1A1A2E"/>
                </a:solidFill>
                <a:latin typeface="Calibri"/>
              </a:rPr>
              <a:t>•  The 70B, by contrast, made a slip mid-reasoning but self-corrected and escalated correctly.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•  Output-only testing would have scored both these 8B runs as 'success'. Reading the trajectory caught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B998B"/>
                </a:solidFill>
                <a:latin typeface="Calibri"/>
              </a:rPr>
              <a:t>THE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"/>
              </a:rPr>
              <a:t>Is an open model ready to replace a closed one here? For this task — yes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2011680" cy="381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5257800" cy="4114800"/>
          </a:xfrm>
          <a:prstGeom prst="rect">
            <a:avLst/>
          </a:prstGeom>
          <a:solidFill>
            <a:srgbClr val="EA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965960"/>
            <a:ext cx="5257800" cy="4114800"/>
          </a:xfrm>
          <a:prstGeom prst="rect">
            <a:avLst/>
          </a:prstGeom>
          <a:solidFill>
            <a:srgbClr val="FB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48463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1B776B"/>
                </a:solidFill>
                <a:latin typeface="Calibri"/>
              </a:rPr>
              <a:t>✔ Llama 3.3 70B — YES (recommended primary)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Beat frontier GPT-4o (5.0 vs 4.6), 0 safety violations, ~1/10th the cost.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Deploy as the reasoning engine BEHIND a deterministic policy guardrail.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Guardrail already blocks non-compliant / un-offered bookings.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194560"/>
            <a:ext cx="48463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B23842"/>
                </a:solidFill>
                <a:latin typeface="Calibri"/>
              </a:rPr>
              <a:t>✘ Llama 3.1 8B — NO for autonomous execution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Cheaper and faster, but forced a policy-violating booking.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Use only for read-only triage (ingest/summarise).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A stronger model must gate any real action.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B998B"/>
                </a:solidFill>
                <a:latin typeface="Calibri"/>
              </a:rPr>
              <a:t>RECOMMENDED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"/>
              </a:rPr>
              <a:t>From POC to production: same graph, real edges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2011680" cy="381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A1A2E"/>
                </a:solidFill>
                <a:latin typeface="Calibri"/>
              </a:rPr>
              <a:t>•  Swap simulated tools for real integrations — TMS / rate-shopping API for options, booking/EDI transaction for execution.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A1A2E"/>
                </a:solidFill>
                <a:latin typeface="Calibri"/>
              </a:rPr>
              <a:t>•  Keep the deterministic guardrail layer: no non-compliant, un-offered, or over-budget booking ever executes.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A1A2E"/>
                </a:solidFill>
                <a:latin typeface="Calibri"/>
              </a:rPr>
              <a:t>•  Add monitoring: trajectory logs → dashboards for escalation rate, loop rate, path conformance.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A1A2E"/>
                </a:solidFill>
                <a:latin typeface="Calibri"/>
              </a:rPr>
              <a:t>•  Add cost controls: per-decision token budget, model routing (small model triages, large model decides).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A1A2E"/>
                </a:solidFill>
                <a:latin typeface="Calibri"/>
              </a:rPr>
              <a:t>•  Persist state (LangGraph checkpointing) so an in-flight reroute survives a crash.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B998B"/>
                </a:solidFill>
                <a:latin typeface="Calibri"/>
              </a:rPr>
              <a:t>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"/>
              </a:rPr>
              <a:t>The economics: inference cost is negligible — buy trust, not cheap tokens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2011680" cy="381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1965960"/>
          <a:ext cx="61264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2057400"/>
            <a:ext cx="46634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545"/>
                </a:solidFill>
                <a:latin typeface="Calibri"/>
              </a:rPr>
              <a:t>~3,400 tokens per reroute (measured).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Even the big model costs ~$0.003 per reroute — about $30/mo at 10,000 reroutes.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A human expediter today: ~$15–30 in labour PLUS hours of delay per event.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D64550"/>
                </a:solidFill>
                <a:latin typeface="Calibri"/>
              </a:rPr>
              <a:t>So the 70B's ~15× premium over the 8B is still trivial — dwarfed by the cost of ONE wrong autonomous booking.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00" b="0">
                <a:solidFill>
                  <a:srgbClr val="5B6470"/>
                </a:solidFill>
                <a:latin typeface="Calibri"/>
              </a:rPr>
              <a:t>Cost lever: route the cheap 8B for triage, the 70B (or a frontier model) only for the execution decision.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B998B"/>
                </a:solidFill>
                <a:latin typeface="Calibri"/>
              </a:rPr>
              <a:t>WHAT WE DON'T YET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"/>
              </a:rPr>
              <a:t>Risks &amp; open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2011680" cy="381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A1A2E"/>
                </a:solidFill>
                <a:latin typeface="Calibri"/>
              </a:rPr>
              <a:t>•  Evaluation breadth: 5 scenarios, one seed. Production needs many seeds + adversarial cases.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A1A2E"/>
                </a:solidFill>
                <a:latin typeface="Calibri"/>
              </a:rPr>
              <a:t>•  Closed-model baseline unmeasured: we should run the identical harness on Claude to quantify the gap.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A1A2E"/>
                </a:solidFill>
                <a:latin typeface="Calibri"/>
              </a:rPr>
              <a:t>•  Real tools misbehave differently: partial failures, latency spikes, schema drift.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A1A2E"/>
                </a:solidFill>
                <a:latin typeface="Calibri"/>
              </a:rPr>
              <a:t>•  Reasoning-quality auto-score is a proxy — it can't catch factual errors; needs LLM-as-judge.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A1A2E"/>
                </a:solidFill>
                <a:latin typeface="Calibri"/>
              </a:rPr>
              <a:t>•  Where is the human-escalation threshold set, and who owns the SLA on escalations?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B998B"/>
                </a:solidFill>
                <a:latin typeface="Calibri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2011680" cy="381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3520440" cy="64008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84831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Now → 4 wks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8920"/>
            <a:ext cx="3520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A1A2E"/>
                </a:solidFill>
              </a:rPr>
              <a:t>•  Run Claude on the same harness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A1A2E"/>
                </a:solidFill>
              </a:rPr>
              <a:t>•  Expand to 25+ scenarios + seeds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A1A2E"/>
                </a:solidFill>
              </a:rPr>
              <a:t>•  Add LLM-as-judge scoring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011680"/>
            <a:ext cx="3520440" cy="64008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084831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 → 2 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788920"/>
            <a:ext cx="3520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A1A2E"/>
                </a:solidFill>
              </a:rPr>
              <a:t>•  Integrate one real carrier API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A1A2E"/>
                </a:solidFill>
              </a:rPr>
              <a:t>•  Shadow-mode on live alerts (no execute)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A1A2E"/>
                </a:solidFill>
              </a:rPr>
              <a:t>•  Guardrail + monitoring hardening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3568" y="2011680"/>
            <a:ext cx="3520440" cy="64008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2084831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 → 4 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2788920"/>
            <a:ext cx="3520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A1A2E"/>
                </a:solidFill>
              </a:rPr>
              <a:t>•  Limited autonomous execution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A1A2E"/>
                </a:solidFill>
              </a:rPr>
              <a:t>•  Model-routing for cost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A1A2E"/>
                </a:solidFill>
              </a:rPr>
              <a:t>•  Human-in-loop escalation console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Autonomous rerouting is buildable today —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>
                <a:solidFill>
                  <a:srgbClr val="C9E4E0"/>
                </a:solidFill>
                <a:latin typeface="Calibri"/>
              </a:rPr>
              <a:t>the hard part is trust, and trust is measurable.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319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>
                <a:solidFill>
                  <a:srgbClr val="9FB3C8"/>
                </a:solidFill>
                <a:latin typeface="Calibri"/>
              </a:rPr>
              <a:t>Working POC · real trajectory logs · a defensible model recommendation · a guardrailed path to production.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