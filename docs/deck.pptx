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Llama 3.3 70B</c:v>
                </c:pt>
              </c:strCache>
            </c:strRef>
          </c:tx>
          <c:spPr>
            <a:solidFill>
              <a:srgbClr val="1B998B"/>
            </a:solidFill>
          </c:spPr>
          <c:cat>
            <c:strRef>
              <c:f>Sheet1!$A$2:$A$5</c:f>
              <c:strCache>
                <c:ptCount val="4"/>
                <c:pt idx="0">
                  <c:v>Tool use</c:v>
                </c:pt>
                <c:pt idx="1">
                  <c:v>Decision
correctness</c:v>
                </c:pt>
                <c:pt idx="2">
                  <c:v>Error
recovery</c:v>
                </c:pt>
                <c:pt idx="3">
                  <c:v>Overall</c:v>
                </c:pt>
              </c:strCache>
            </c:strRef>
          </c:cat>
          <c:val>
            <c:numRef>
              <c:f>Sheet1!$B$2:$B$5</c:f>
              <c:numCache>
                <c:formatCode>General</c:formatCode>
                <c:ptCount val="4"/>
                <c:pt idx="0">
                  <c:v>5.0</c:v>
                </c:pt>
                <c:pt idx="1">
                  <c:v>5.0</c:v>
                </c:pt>
                <c:pt idx="2">
                  <c:v>5.0</c:v>
                </c:pt>
                <c:pt idx="3">
                  <c:v>5.0</c:v>
                </c:pt>
              </c:numCache>
            </c:numRef>
          </c:val>
        </c:ser>
        <c:ser>
          <c:idx val="1"/>
          <c:order val="1"/>
          <c:tx>
            <c:strRef>
              <c:f>Sheet1!$C$1</c:f>
              <c:strCache>
                <c:ptCount val="1"/>
                <c:pt idx="0">
                  <c:v>Llama 3.1 8B</c:v>
                </c:pt>
              </c:strCache>
            </c:strRef>
          </c:tx>
          <c:spPr>
            <a:solidFill>
              <a:srgbClr val="E8A33D"/>
            </a:solidFill>
          </c:spPr>
          <c:cat>
            <c:strRef>
              <c:f>Sheet1!$A$2:$A$5</c:f>
              <c:strCache>
                <c:ptCount val="4"/>
                <c:pt idx="0">
                  <c:v>Tool use</c:v>
                </c:pt>
                <c:pt idx="1">
                  <c:v>Decision
correctness</c:v>
                </c:pt>
                <c:pt idx="2">
                  <c:v>Error
recovery</c:v>
                </c:pt>
                <c:pt idx="3">
                  <c:v>Overall</c:v>
                </c:pt>
              </c:strCache>
            </c:strRef>
          </c:cat>
          <c:val>
            <c:numRef>
              <c:f>Sheet1!$C$2:$C$5</c:f>
              <c:numCache>
                <c:formatCode>General</c:formatCode>
                <c:ptCount val="4"/>
                <c:pt idx="0">
                  <c:v>4.4</c:v>
                </c:pt>
                <c:pt idx="1">
                  <c:v>3.2</c:v>
                </c:pt>
                <c:pt idx="2">
                  <c:v>3.67</c:v>
                </c:pt>
                <c:pt idx="3">
                  <c:v>4.17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5.0"/>
          <c:min val="0.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Cost per autonomous reroute (USD)</c:v>
                </c:pt>
              </c:strCache>
            </c:strRef>
          </c:tx>
          <c:spPr>
            <a:solidFill>
              <a:srgbClr val="1B998B"/>
            </a:solidFill>
          </c:spPr>
          <c:cat>
            <c:strRef>
              <c:f>Sheet1!$A$2:$A$4</c:f>
              <c:strCache>
                <c:ptCount val="3"/>
                <c:pt idx="0">
                  <c:v>Llama 3.1 8B</c:v>
                </c:pt>
                <c:pt idx="1">
                  <c:v>Llama 3.3 70B</c:v>
                </c:pt>
                <c:pt idx="2">
                  <c:v>Claude (frontier, est.)</c:v>
                </c:pt>
              </c:strCache>
            </c:strRef>
          </c:cat>
          <c:val>
            <c:numRef>
              <c:f>Sheet1!$B$2:$B$4</c:f>
              <c:numCache>
                <c:formatCode>General</c:formatCode>
                <c:ptCount val="3"/>
                <c:pt idx="0">
                  <c:v>0.0002</c:v>
                </c:pt>
                <c:pt idx="1">
                  <c:v>0.0028</c:v>
                </c:pt>
                <c:pt idx="2">
                  <c:v>0.024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pitch in one line: we built a working autonomous rerouting agent, evaluated two open-source models on it by scoring their decision-making step-by-step (not just outcomes), and we have a clear, defensible recommendation on production-readiness. 15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around cost-of-delay and the human bottleneck. The punchline is the last bullet: this is automatable, but automation that books real freight has to be trustworthy. That 'if it can be trusted' sets up why we evaluated so carefully.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ingest → evaluate (calls the — simulated — carrier API) → decide &amp; execute. The amber box is the safety net: any tool failure or a no-viable-option situation retries once and then hands off to a human instead of crashing or guessing. Emphasise that LangGraph's explicit graph is what makes the safety behaviour inspectable and gives us the step-by-step logs the evaluation needs.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technical contribution, explained for non-technical stakeholders. The student analogy lands the point: for an agent that takes real actions, outcome-only testing is dangerous because a model can get the right answer for the wrong reason — or, as we found, the right reasoning and then the wrong action. The 'answer key' is a policy oracle we compute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70B is a clean sweep. The 8B looks respectable on average (4.17) — which is exactly the trap. The average hides that its losses are concentrated in decision correctness and error recovery, the two dimensions that govern whether it's safe to let it act. Next slide shows the specific failure.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money slide. The 8B doesn't fail by being confused — it fails by being inconsistent between what it concludes and what it does, and by forcing a policy-violating booking rather than deferring. For an agent that spends money and commits freight, that is a safety defect, not a quality nit. And crucially it is invisible unless you inspect the steps.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direct answer the brief demands — no 'both are good' hedge. The 70B can go to production for this use case *if* wrapped in the deterministic guardrails we already built. The 8B should not execute autonomously at all; its role is cheap triage with a stronger model holding the execution rights. This also frames where a closed model like Claude fits: as the execution-gating model if the 70B ever proves insufficient at scale.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message: the architecture doesn't change from POC to prod — only the tool endpoints and the operational scaffolding around it. That de-risks the build. Call out the four production pillars: real APIs, guardrails, monitoring, cost controls. The model-routing point (8B triages, 70B decides) turns our finding into a cost lever.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 the cost conversation. The instinct is to pick the cheapest model, but at ~$0.003 per reroute the inference cost is a rounding error next to human labour and cost-of-delay. The decision must be made on trust/safety, not token price — which is the whole point of the evaluation. Claude's number is an estimate from public per-token pricing (not measured here). Model-routing is the one place cost genuinely matters: use the 8B for cheap read-only triage and reserve the expensive, trustworthy model for the irreversible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 evaluators trust a recommendation more when its limits are stated. The most important open item is running Claude through the same harness; the code already supports it, it just needs a key. The last bullet is an org question, not a tech one, and worth raising with product/ops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credible, staged path: prove the eval out and add the closed-model baseline first; then a shadow-mode integration that reasons on real alerts but doesn't book; then graduated autonomous execution with cost routing. Nothing goes live executing until shadow mode earns trust.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theme: the technology is ready; the differentiator is a rigorous, trajectory-based evaluation that tells you which model to trust and how much to fence it.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10515600" cy="1463040"/>
          </a:xfrm>
          <a:prstGeom prst="rect">
            <a:avLst/>
          </a:prstGeom>
          <a:noFill/>
        </p:spPr>
        <p:txBody>
          <a:bodyPr wrap="square" anchor="t">
            <a:spAutoFit/>
          </a:bodyPr>
          <a:lstStyle/>
          <a:p>
            <a:pPr algn="l">
              <a:lnSpc>
                <a:spcPct val="105000"/>
              </a:lnSpc>
              <a:spcAft>
                <a:spcPts val="800"/>
              </a:spcAft>
            </a:pPr>
            <a:r>
              <a:rPr sz="4600" b="1">
                <a:solidFill>
                  <a:srgbClr val="FFFFFF"/>
                </a:solidFill>
                <a:latin typeface="Calibri"/>
              </a:rPr>
              <a:t>Autonomous Carrier Rerouting</a:t>
            </a:r>
          </a:p>
        </p:txBody>
      </p:sp>
      <p:sp>
        <p:nvSpPr>
          <p:cNvPr id="5" name="TextBox 4"/>
          <p:cNvSpPr txBox="1"/>
          <p:nvPr/>
        </p:nvSpPr>
        <p:spPr>
          <a:xfrm>
            <a:off x="822960" y="3200400"/>
            <a:ext cx="10515600" cy="914400"/>
          </a:xfrm>
          <a:prstGeom prst="rect">
            <a:avLst/>
          </a:prstGeom>
          <a:noFill/>
        </p:spPr>
        <p:txBody>
          <a:bodyPr wrap="square" anchor="t">
            <a:spAutoFit/>
          </a:bodyPr>
          <a:lstStyle/>
          <a:p>
            <a:pPr algn="l">
              <a:lnSpc>
                <a:spcPct val="105000"/>
              </a:lnSpc>
              <a:spcAft>
                <a:spcPts val="800"/>
              </a:spcAft>
            </a:pPr>
            <a:r>
              <a:rPr sz="2200" b="0">
                <a:solidFill>
                  <a:srgbClr val="C9E4E0"/>
                </a:solidFill>
                <a:latin typeface="Calibri"/>
              </a:rPr>
              <a:t>Agentic AI that reroutes shipments through disruption — and knows when to ask a human</a:t>
            </a:r>
          </a:p>
        </p:txBody>
      </p:sp>
      <p:sp>
        <p:nvSpPr>
          <p:cNvPr id="6" name="TextBox 5"/>
          <p:cNvSpPr txBox="1"/>
          <p:nvPr/>
        </p:nvSpPr>
        <p:spPr>
          <a:xfrm>
            <a:off x="868680" y="4754880"/>
            <a:ext cx="10058400" cy="731520"/>
          </a:xfrm>
          <a:prstGeom prst="rect">
            <a:avLst/>
          </a:prstGeom>
          <a:noFill/>
        </p:spPr>
        <p:txBody>
          <a:bodyPr wrap="square" anchor="t">
            <a:spAutoFit/>
          </a:bodyPr>
          <a:lstStyle/>
          <a:p>
            <a:pPr algn="l">
              <a:lnSpc>
                <a:spcPct val="105000"/>
              </a:lnSpc>
              <a:spcAft>
                <a:spcPts val="800"/>
              </a:spcAft>
            </a:pPr>
            <a:r>
              <a:rPr sz="1500" b="0">
                <a:solidFill>
                  <a:srgbClr val="9FB3C8"/>
                </a:solidFill>
                <a:latin typeface="Calibri"/>
              </a:rPr>
              <a:t>Technical evaluation + product recommendation   ·   Llama 3.3 70B vs Llama 3.1 8B, real trajectory logs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THE PROBLEM</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A delayed shipment is a race against the clock — and humans are the bottleneck</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19"/>
            <a:ext cx="10789920" cy="4389120"/>
          </a:xfrm>
          <a:prstGeom prst="rect">
            <a:avLst/>
          </a:prstGeom>
          <a:noFill/>
        </p:spPr>
        <p:txBody>
          <a:bodyPr wrap="square">
            <a:spAutoFit/>
          </a:bodyPr>
          <a:lstStyle/>
          <a:p>
            <a:pPr>
              <a:lnSpc>
                <a:spcPct val="105000"/>
              </a:lnSpc>
              <a:spcAft>
                <a:spcPts val="1400"/>
              </a:spcAft>
            </a:pPr>
            <a:r>
              <a:rPr sz="1800" b="0">
                <a:solidFill>
                  <a:srgbClr val="1A1A2E"/>
                </a:solidFill>
                <a:latin typeface="Calibri"/>
              </a:rPr>
              <a:t>•  A customs hold, port congestion, or carrier failure can add 14–40h to an ETA — on high-value, time-critical freight.</a:t>
            </a:r>
          </a:p>
          <a:p>
            <a:pPr>
              <a:lnSpc>
                <a:spcPct val="105000"/>
              </a:lnSpc>
              <a:spcAft>
                <a:spcPts val="1400"/>
              </a:spcAft>
            </a:pPr>
            <a:r>
              <a:rPr sz="1800" b="0">
                <a:solidFill>
                  <a:srgbClr val="1A1A2E"/>
                </a:solidFill>
                <a:latin typeface="Calibri"/>
              </a:rPr>
              <a:t>•  Today a human expediter notices, pulls up alternatives, weighs cost vs. speed vs. reliability, and rebooks — often hours later, often off-shift.</a:t>
            </a:r>
          </a:p>
          <a:p>
            <a:pPr>
              <a:lnSpc>
                <a:spcPct val="105000"/>
              </a:lnSpc>
              <a:spcAft>
                <a:spcPts val="1400"/>
              </a:spcAft>
            </a:pPr>
            <a:r>
              <a:rPr sz="1800" b="0">
                <a:solidFill>
                  <a:srgbClr val="1A1A2E"/>
                </a:solidFill>
                <a:latin typeface="Calibri"/>
              </a:rPr>
              <a:t>•  Every hour of latency compounds: missed connections, penalty clauses, spoiled goods.</a:t>
            </a:r>
          </a:p>
          <a:p>
            <a:pPr>
              <a:lnSpc>
                <a:spcPct val="105000"/>
              </a:lnSpc>
              <a:spcAft>
                <a:spcPts val="1400"/>
              </a:spcAft>
            </a:pPr>
            <a:r>
              <a:rPr sz="1800" b="1">
                <a:solidFill>
                  <a:srgbClr val="0B2545"/>
                </a:solidFill>
                <a:latin typeface="Calibri"/>
              </a:rPr>
              <a:t>•  The decision is repetitive and rule-based — a strong fit for an autonomous agent, IF it can be trusted to 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THE APPROACH</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Three specialised agents, one explicit control graph</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148840"/>
            <a:ext cx="2514600" cy="105156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1 · Ingestion</a:t>
            </a:r>
          </a:p>
          <a:p>
            <a:pPr algn="ctr"/>
            <a:r>
              <a:rPr sz="1050">
                <a:solidFill>
                  <a:srgbClr val="E8EEF2"/>
                </a:solidFill>
              </a:rPr>
              <a:t>parse alert, rate severity</a:t>
            </a:r>
          </a:p>
        </p:txBody>
      </p:sp>
      <p:sp>
        <p:nvSpPr>
          <p:cNvPr id="8" name="Rectangle 7"/>
          <p:cNvSpPr/>
          <p:nvPr/>
        </p:nvSpPr>
        <p:spPr>
          <a:xfrm>
            <a:off x="3520440" y="2148840"/>
            <a:ext cx="2514600" cy="105156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2 · Evaluation</a:t>
            </a:r>
          </a:p>
          <a:p>
            <a:pPr algn="ctr"/>
            <a:r>
              <a:rPr sz="1050">
                <a:solidFill>
                  <a:srgbClr val="E8EEF2"/>
                </a:solidFill>
              </a:rPr>
              <a:t>call carrier API, weigh trade-offs</a:t>
            </a:r>
          </a:p>
        </p:txBody>
      </p:sp>
      <p:sp>
        <p:nvSpPr>
          <p:cNvPr id="9" name="Rectangle 8"/>
          <p:cNvSpPr/>
          <p:nvPr/>
        </p:nvSpPr>
        <p:spPr>
          <a:xfrm>
            <a:off x="6355080" y="2148840"/>
            <a:ext cx="2514600" cy="105156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3 · Decision</a:t>
            </a:r>
          </a:p>
          <a:p>
            <a:pPr algn="ctr"/>
            <a:r>
              <a:rPr sz="1050">
                <a:solidFill>
                  <a:srgbClr val="E8EEF2"/>
                </a:solidFill>
              </a:rPr>
              <a:t>pick per policy, book reroute</a:t>
            </a:r>
          </a:p>
        </p:txBody>
      </p:sp>
      <p:sp>
        <p:nvSpPr>
          <p:cNvPr id="10" name="Rectangle 9"/>
          <p:cNvSpPr/>
          <p:nvPr/>
        </p:nvSpPr>
        <p:spPr>
          <a:xfrm>
            <a:off x="9189720" y="2148840"/>
            <a:ext cx="2331720"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 Rerouted</a:t>
            </a:r>
          </a:p>
          <a:p>
            <a:pPr algn="ctr"/>
            <a:r>
              <a:rPr sz="1050">
                <a:solidFill>
                  <a:srgbClr val="E8EEF2"/>
                </a:solidFill>
              </a:rPr>
              <a:t>booking confirmed</a:t>
            </a:r>
          </a:p>
        </p:txBody>
      </p:sp>
      <p:sp>
        <p:nvSpPr>
          <p:cNvPr id="11" name="Rectangle 10"/>
          <p:cNvSpPr/>
          <p:nvPr/>
        </p:nvSpPr>
        <p:spPr>
          <a:xfrm>
            <a:off x="3200400" y="2587752"/>
            <a:ext cx="320040" cy="38100"/>
          </a:xfrm>
          <a:prstGeom prst="rect">
            <a:avLst/>
          </a:prstGeom>
          <a:solidFill>
            <a:srgbClr val="5B6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0" y="2587752"/>
            <a:ext cx="320040" cy="38100"/>
          </a:xfrm>
          <a:prstGeom prst="rect">
            <a:avLst/>
          </a:prstGeom>
          <a:solidFill>
            <a:srgbClr val="5B6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69680" y="2587752"/>
            <a:ext cx="320040" cy="38100"/>
          </a:xfrm>
          <a:prstGeom prst="rect">
            <a:avLst/>
          </a:prstGeom>
          <a:solidFill>
            <a:srgbClr val="5B6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3749039"/>
            <a:ext cx="5166360" cy="9144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1A1A2E"/>
                </a:solidFill>
              </a:rPr>
              <a:t>Fallback: tool fails or no compliant option  →  retry once  →  escalate to HUMAN REVIEW</a:t>
            </a:r>
          </a:p>
        </p:txBody>
      </p:sp>
      <p:sp>
        <p:nvSpPr>
          <p:cNvPr id="15" name="Rectangle 14"/>
          <p:cNvSpPr/>
          <p:nvPr/>
        </p:nvSpPr>
        <p:spPr>
          <a:xfrm>
            <a:off x="7406640" y="3200400"/>
            <a:ext cx="38100" cy="548640"/>
          </a:xfrm>
          <a:prstGeom prst="rect">
            <a:avLst/>
          </a:prstGeom>
          <a:solidFill>
            <a:srgbClr val="5B6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029200"/>
            <a:ext cx="10972800" cy="1280160"/>
          </a:xfrm>
          <a:prstGeom prst="rect">
            <a:avLst/>
          </a:prstGeom>
          <a:noFill/>
        </p:spPr>
        <p:txBody>
          <a:bodyPr wrap="square" anchor="t">
            <a:spAutoFit/>
          </a:bodyPr>
          <a:lstStyle/>
          <a:p>
            <a:pPr algn="l">
              <a:lnSpc>
                <a:spcPct val="105000"/>
              </a:lnSpc>
              <a:spcAft>
                <a:spcPts val="800"/>
              </a:spcAft>
            </a:pPr>
            <a:r>
              <a:rPr sz="1500" b="0">
                <a:solidFill>
                  <a:srgbClr val="5B6470"/>
                </a:solidFill>
                <a:latin typeface="Calibri"/>
              </a:rPr>
              <a:t>Built on LangGraph: an explicit state machine, not an open-ended loop. The recovery rule — retry once, then escalate — is auditable, and every step is logged as a trajectory.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HOW WE EVALUATED</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We grade the working, not just the final answer</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19"/>
            <a:ext cx="10789920" cy="4389120"/>
          </a:xfrm>
          <a:prstGeom prst="rect">
            <a:avLst/>
          </a:prstGeom>
          <a:noFill/>
        </p:spPr>
        <p:txBody>
          <a:bodyPr wrap="square">
            <a:spAutoFit/>
          </a:bodyPr>
          <a:lstStyle/>
          <a:p>
            <a:pPr>
              <a:lnSpc>
                <a:spcPct val="105000"/>
              </a:lnSpc>
              <a:spcAft>
                <a:spcPts val="1600"/>
              </a:spcAft>
            </a:pPr>
            <a:r>
              <a:rPr sz="1800" b="1">
                <a:solidFill>
                  <a:srgbClr val="0B2545"/>
                </a:solidFill>
                <a:latin typeface="Calibri"/>
              </a:rPr>
              <a:t>•  Analogy: two students both write '42'. One reasoned it out; one copied a neighbour. Same answer — very different trust. You have to see the working.</a:t>
            </a:r>
          </a:p>
          <a:p>
            <a:pPr>
              <a:lnSpc>
                <a:spcPct val="105000"/>
              </a:lnSpc>
              <a:spcAft>
                <a:spcPts val="1600"/>
              </a:spcAft>
            </a:pPr>
            <a:r>
              <a:rPr sz="1800" b="0">
                <a:solidFill>
                  <a:srgbClr val="1A1A2E"/>
                </a:solidFill>
                <a:latin typeface="Calibri"/>
              </a:rPr>
              <a:t>•  So we log every step of the agent's decision — its reasoning, which tools it called, with what arguments, and what it finally did.</a:t>
            </a:r>
          </a:p>
          <a:p>
            <a:pPr>
              <a:lnSpc>
                <a:spcPct val="105000"/>
              </a:lnSpc>
              <a:spcAft>
                <a:spcPts val="1600"/>
              </a:spcAft>
            </a:pPr>
            <a:r>
              <a:rPr sz="1800" b="0">
                <a:solidFill>
                  <a:srgbClr val="1A1A2E"/>
                </a:solidFill>
                <a:latin typeface="Calibri"/>
              </a:rPr>
              <a:t>•  We score four things 1–5: tool use, decision correctness, error recovery, reasoning quality.</a:t>
            </a:r>
          </a:p>
          <a:p>
            <a:pPr>
              <a:lnSpc>
                <a:spcPct val="105000"/>
              </a:lnSpc>
              <a:spcAft>
                <a:spcPts val="1600"/>
              </a:spcAft>
            </a:pPr>
            <a:r>
              <a:rPr sz="1800" b="0">
                <a:solidFill>
                  <a:srgbClr val="1A1A2E"/>
                </a:solidFill>
                <a:latin typeface="Calibri"/>
              </a:rPr>
              <a:t>•  Three of the four are graded automatically against a policy 'answer key' — so the numbers are objective and reproducible, not opinion.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RESULTS</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Head-to-head: the big model was flawless; the small one wasn't</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85800" y="1965960"/>
          <a:ext cx="7040880" cy="4297680"/>
        </p:xfrm>
        <a:graphic>
          <a:graphicData uri="http://schemas.openxmlformats.org/drawingml/2006/chart">
            <c:chart xmlns:c="http://schemas.openxmlformats.org/drawingml/2006/chart" r:id="rId2"/>
          </a:graphicData>
        </a:graphic>
      </p:graphicFrame>
      <p:sp>
        <p:nvSpPr>
          <p:cNvPr id="8" name="TextBox 7"/>
          <p:cNvSpPr txBox="1"/>
          <p:nvPr/>
        </p:nvSpPr>
        <p:spPr>
          <a:xfrm>
            <a:off x="8046720" y="2194560"/>
            <a:ext cx="3749039" cy="3840480"/>
          </a:xfrm>
          <a:prstGeom prst="rect">
            <a:avLst/>
          </a:prstGeom>
          <a:noFill/>
        </p:spPr>
        <p:txBody>
          <a:bodyPr wrap="square" anchor="t">
            <a:spAutoFit/>
          </a:bodyPr>
          <a:lstStyle/>
          <a:p>
            <a:pPr algn="l">
              <a:lnSpc>
                <a:spcPct val="105000"/>
              </a:lnSpc>
              <a:spcAft>
                <a:spcPts val="1200"/>
              </a:spcAft>
            </a:pPr>
            <a:r>
              <a:rPr sz="1400" b="1">
                <a:solidFill>
                  <a:srgbClr val="0B2545"/>
                </a:solidFill>
                <a:latin typeface="Calibri"/>
              </a:rPr>
              <a:t>Scores are 1–5, averaged over 5 disruption scenarios.</a:t>
            </a:r>
          </a:p>
          <a:p>
            <a:pPr algn="l">
              <a:lnSpc>
                <a:spcPct val="105000"/>
              </a:lnSpc>
              <a:spcAft>
                <a:spcPts val="1200"/>
              </a:spcAft>
            </a:pPr>
            <a:r>
              <a:rPr sz="1400" b="0">
                <a:solidFill>
                  <a:srgbClr val="1A1A2E"/>
                </a:solidFill>
                <a:latin typeface="Calibri"/>
              </a:rPr>
              <a:t>70B: 5.0 overall — correct on every scenario.</a:t>
            </a:r>
          </a:p>
          <a:p>
            <a:pPr algn="l">
              <a:lnSpc>
                <a:spcPct val="105000"/>
              </a:lnSpc>
              <a:spcAft>
                <a:spcPts val="1200"/>
              </a:spcAft>
            </a:pPr>
            <a:r>
              <a:rPr sz="1400" b="0">
                <a:solidFill>
                  <a:srgbClr val="1A1A2E"/>
                </a:solidFill>
                <a:latin typeface="Calibri"/>
              </a:rPr>
              <a:t>8B: 4.17 overall — fluent, but stumbled on the decisions that matter most.</a:t>
            </a:r>
          </a:p>
          <a:p>
            <a:pPr algn="l">
              <a:lnSpc>
                <a:spcPct val="105000"/>
              </a:lnSpc>
              <a:spcAft>
                <a:spcPts val="1200"/>
              </a:spcAft>
            </a:pPr>
            <a:r>
              <a:rPr sz="1400" b="0">
                <a:solidFill>
                  <a:srgbClr val="5B6470"/>
                </a:solidFill>
                <a:latin typeface="Calibri"/>
              </a:rPr>
              <a:t>8B's edge: ~27% faster and far cheaper per token.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WHY THE AVERAGE LIES</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The critical finding: the small model acted against its own reasoning</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20240"/>
            <a:ext cx="10789920" cy="137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0B2545"/>
                </a:solidFill>
              </a:rPr>
              <a:t>8B, on a case where EVERY carrier broke policy:</a:t>
            </a:r>
          </a:p>
          <a:p>
            <a:r>
              <a:rPr sz="1400">
                <a:solidFill>
                  <a:srgbClr val="D64550"/>
                </a:solidFill>
              </a:rPr>
              <a:t>Its analysis flagged the carriers as non-compliant — then it booked one anyway ($3,200 vs $3,000 cap; 0.85 vs 0.90 reliability floor). It should have escalated.</a:t>
            </a:r>
          </a:p>
        </p:txBody>
      </p:sp>
      <p:sp>
        <p:nvSpPr>
          <p:cNvPr id="8" name="TextBox 7"/>
          <p:cNvSpPr txBox="1"/>
          <p:nvPr/>
        </p:nvSpPr>
        <p:spPr>
          <a:xfrm>
            <a:off x="685800" y="3566160"/>
            <a:ext cx="10789920" cy="2926080"/>
          </a:xfrm>
          <a:prstGeom prst="rect">
            <a:avLst/>
          </a:prstGeom>
          <a:noFill/>
        </p:spPr>
        <p:txBody>
          <a:bodyPr wrap="square">
            <a:spAutoFit/>
          </a:bodyPr>
          <a:lstStyle/>
          <a:p>
            <a:pPr>
              <a:lnSpc>
                <a:spcPct val="105000"/>
              </a:lnSpc>
              <a:spcAft>
                <a:spcPts val="1400"/>
              </a:spcAft>
            </a:pPr>
            <a:r>
              <a:rPr sz="1800" b="0">
                <a:solidFill>
                  <a:srgbClr val="1A1A2E"/>
                </a:solidFill>
                <a:latin typeface="Calibri"/>
              </a:rPr>
              <a:t>•  On a tight trade-off, the 8B ranked the fastest carrier #1 in its notes — then booked a slower one.</a:t>
            </a:r>
          </a:p>
          <a:p>
            <a:pPr>
              <a:lnSpc>
                <a:spcPct val="105000"/>
              </a:lnSpc>
              <a:spcAft>
                <a:spcPts val="1400"/>
              </a:spcAft>
            </a:pPr>
            <a:r>
              <a:rPr sz="1800" b="0">
                <a:solidFill>
                  <a:srgbClr val="1A1A2E"/>
                </a:solidFill>
                <a:latin typeface="Calibri"/>
              </a:rPr>
              <a:t>•  The 70B, by contrast, made a slip mid-reasoning but self-corrected and escalated correctly.</a:t>
            </a:r>
          </a:p>
          <a:p>
            <a:pPr>
              <a:lnSpc>
                <a:spcPct val="105000"/>
              </a:lnSpc>
              <a:spcAft>
                <a:spcPts val="1400"/>
              </a:spcAft>
            </a:pPr>
            <a:r>
              <a:rPr sz="1800" b="1">
                <a:solidFill>
                  <a:srgbClr val="0B2545"/>
                </a:solidFill>
                <a:latin typeface="Calibri"/>
              </a:rPr>
              <a:t>•  Output-only testing would have scored both these 8B runs as 'success'. Reading the trajectory caught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THE RECOMMENDATION</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Is an open model ready to replace a closed one here? Not yet — but one is close</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5257800" cy="4114800"/>
          </a:xfrm>
          <a:prstGeom prst="rect">
            <a:avLst/>
          </a:prstGeom>
          <a:solidFill>
            <a:srgbClr val="EA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965960"/>
            <a:ext cx="5257800" cy="4114800"/>
          </a:xfrm>
          <a:prstGeom prst="rect">
            <a:avLst/>
          </a:prstGeom>
          <a:solidFill>
            <a:srgbClr val="FBF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4846320" cy="3749039"/>
          </a:xfrm>
          <a:prstGeom prst="rect">
            <a:avLst/>
          </a:prstGeom>
          <a:noFill/>
        </p:spPr>
        <p:txBody>
          <a:bodyPr wrap="square" anchor="t">
            <a:spAutoFit/>
          </a:bodyPr>
          <a:lstStyle/>
          <a:p>
            <a:pPr algn="l">
              <a:lnSpc>
                <a:spcPct val="105000"/>
              </a:lnSpc>
              <a:spcAft>
                <a:spcPts val="1200"/>
              </a:spcAft>
            </a:pPr>
            <a:r>
              <a:rPr sz="1800" b="1">
                <a:solidFill>
                  <a:srgbClr val="1B776B"/>
                </a:solidFill>
                <a:latin typeface="Calibri"/>
              </a:rPr>
              <a:t>✔ Llama 3.3 70B — conditional YES</a:t>
            </a:r>
          </a:p>
          <a:p>
            <a:pPr algn="l">
              <a:lnSpc>
                <a:spcPct val="105000"/>
              </a:lnSpc>
              <a:spcAft>
                <a:spcPts val="1200"/>
              </a:spcAft>
            </a:pPr>
            <a:r>
              <a:rPr sz="1400" b="0">
                <a:solidFill>
                  <a:srgbClr val="1A1A2E"/>
                </a:solidFill>
                <a:latin typeface="Calibri"/>
              </a:rPr>
              <a:t>Deploy as the reasoning engine BEHIND a deterministic policy guardrail.</a:t>
            </a:r>
          </a:p>
          <a:p>
            <a:pPr algn="l">
              <a:lnSpc>
                <a:spcPct val="105000"/>
              </a:lnSpc>
              <a:spcAft>
                <a:spcPts val="1200"/>
              </a:spcAft>
            </a:pPr>
            <a:r>
              <a:rPr sz="1400" b="0">
                <a:solidFill>
                  <a:srgbClr val="1A1A2E"/>
                </a:solidFill>
                <a:latin typeface="Calibri"/>
              </a:rPr>
              <a:t>Flawless decisions + correct escalation in testing.</a:t>
            </a:r>
          </a:p>
          <a:p>
            <a:pPr algn="l">
              <a:lnSpc>
                <a:spcPct val="105000"/>
              </a:lnSpc>
              <a:spcAft>
                <a:spcPts val="1200"/>
              </a:spcAft>
            </a:pPr>
            <a:r>
              <a:rPr sz="1400" b="0">
                <a:solidFill>
                  <a:srgbClr val="1A1A2E"/>
                </a:solidFill>
                <a:latin typeface="Calibri"/>
              </a:rPr>
              <a:t>Guardrail already blocks non-compliant / un-offered bookings.</a:t>
            </a:r>
          </a:p>
        </p:txBody>
      </p:sp>
      <p:sp>
        <p:nvSpPr>
          <p:cNvPr id="10" name="TextBox 9"/>
          <p:cNvSpPr txBox="1"/>
          <p:nvPr/>
        </p:nvSpPr>
        <p:spPr>
          <a:xfrm>
            <a:off x="6446520" y="2194560"/>
            <a:ext cx="4846320" cy="3749039"/>
          </a:xfrm>
          <a:prstGeom prst="rect">
            <a:avLst/>
          </a:prstGeom>
          <a:noFill/>
        </p:spPr>
        <p:txBody>
          <a:bodyPr wrap="square" anchor="t">
            <a:spAutoFit/>
          </a:bodyPr>
          <a:lstStyle/>
          <a:p>
            <a:pPr algn="l">
              <a:lnSpc>
                <a:spcPct val="105000"/>
              </a:lnSpc>
              <a:spcAft>
                <a:spcPts val="1200"/>
              </a:spcAft>
            </a:pPr>
            <a:r>
              <a:rPr sz="1800" b="1">
                <a:solidFill>
                  <a:srgbClr val="B23842"/>
                </a:solidFill>
                <a:latin typeface="Calibri"/>
              </a:rPr>
              <a:t>✘ Llama 3.1 8B — NO for autonomous execution</a:t>
            </a:r>
          </a:p>
          <a:p>
            <a:pPr algn="l">
              <a:lnSpc>
                <a:spcPct val="105000"/>
              </a:lnSpc>
              <a:spcAft>
                <a:spcPts val="1200"/>
              </a:spcAft>
            </a:pPr>
            <a:r>
              <a:rPr sz="1400" b="0">
                <a:solidFill>
                  <a:srgbClr val="1A1A2E"/>
                </a:solidFill>
                <a:latin typeface="Calibri"/>
              </a:rPr>
              <a:t>Cheaper and faster, but forced a policy-violating booking.</a:t>
            </a:r>
          </a:p>
          <a:p>
            <a:pPr algn="l">
              <a:lnSpc>
                <a:spcPct val="105000"/>
              </a:lnSpc>
              <a:spcAft>
                <a:spcPts val="1200"/>
              </a:spcAft>
            </a:pPr>
            <a:r>
              <a:rPr sz="1400" b="0">
                <a:solidFill>
                  <a:srgbClr val="1A1A2E"/>
                </a:solidFill>
                <a:latin typeface="Calibri"/>
              </a:rPr>
              <a:t>Use only for read-only triage (ingest/summarise).</a:t>
            </a:r>
          </a:p>
          <a:p>
            <a:pPr algn="l">
              <a:lnSpc>
                <a:spcPct val="105000"/>
              </a:lnSpc>
              <a:spcAft>
                <a:spcPts val="1200"/>
              </a:spcAft>
            </a:pPr>
            <a:r>
              <a:rPr sz="1400" b="0">
                <a:solidFill>
                  <a:srgbClr val="1A1A2E"/>
                </a:solidFill>
                <a:latin typeface="Calibri"/>
              </a:rPr>
              <a:t>A stronger model must gate any real 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RECOMMENDED ARCHITECTURE</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From POC to production: same graph, real edges</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19"/>
            <a:ext cx="10789920" cy="4389120"/>
          </a:xfrm>
          <a:prstGeom prst="rect">
            <a:avLst/>
          </a:prstGeom>
          <a:noFill/>
        </p:spPr>
        <p:txBody>
          <a:bodyPr wrap="square">
            <a:spAutoFit/>
          </a:bodyPr>
          <a:lstStyle/>
          <a:p>
            <a:pPr>
              <a:lnSpc>
                <a:spcPct val="105000"/>
              </a:lnSpc>
              <a:spcAft>
                <a:spcPts val="1200"/>
              </a:spcAft>
            </a:pPr>
            <a:r>
              <a:rPr sz="1700" b="0">
                <a:solidFill>
                  <a:srgbClr val="1A1A2E"/>
                </a:solidFill>
                <a:latin typeface="Calibri"/>
              </a:rPr>
              <a:t>•  Swap simulated tools for real integrations — TMS / rate-shopping API for options, booking/EDI transaction for execution.</a:t>
            </a:r>
          </a:p>
          <a:p>
            <a:pPr>
              <a:lnSpc>
                <a:spcPct val="105000"/>
              </a:lnSpc>
              <a:spcAft>
                <a:spcPts val="1200"/>
              </a:spcAft>
            </a:pPr>
            <a:r>
              <a:rPr sz="1700" b="0">
                <a:solidFill>
                  <a:srgbClr val="1A1A2E"/>
                </a:solidFill>
                <a:latin typeface="Calibri"/>
              </a:rPr>
              <a:t>•  Keep the deterministic guardrail layer: no non-compliant, un-offered, or over-budget booking ever executes.</a:t>
            </a:r>
          </a:p>
          <a:p>
            <a:pPr>
              <a:lnSpc>
                <a:spcPct val="105000"/>
              </a:lnSpc>
              <a:spcAft>
                <a:spcPts val="1200"/>
              </a:spcAft>
            </a:pPr>
            <a:r>
              <a:rPr sz="1700" b="0">
                <a:solidFill>
                  <a:srgbClr val="1A1A2E"/>
                </a:solidFill>
                <a:latin typeface="Calibri"/>
              </a:rPr>
              <a:t>•  Add monitoring: trajectory logs → dashboards for escalation rate, loop rate, path conformance.</a:t>
            </a:r>
          </a:p>
          <a:p>
            <a:pPr>
              <a:lnSpc>
                <a:spcPct val="105000"/>
              </a:lnSpc>
              <a:spcAft>
                <a:spcPts val="1200"/>
              </a:spcAft>
            </a:pPr>
            <a:r>
              <a:rPr sz="1700" b="0">
                <a:solidFill>
                  <a:srgbClr val="1A1A2E"/>
                </a:solidFill>
                <a:latin typeface="Calibri"/>
              </a:rPr>
              <a:t>•  Add cost controls: per-decision token budget, model routing (small model triages, large model decides).</a:t>
            </a:r>
          </a:p>
          <a:p>
            <a:pPr>
              <a:lnSpc>
                <a:spcPct val="105000"/>
              </a:lnSpc>
              <a:spcAft>
                <a:spcPts val="1200"/>
              </a:spcAft>
            </a:pPr>
            <a:r>
              <a:rPr sz="1700" b="0">
                <a:solidFill>
                  <a:srgbClr val="1A1A2E"/>
                </a:solidFill>
                <a:latin typeface="Calibri"/>
              </a:rPr>
              <a:t>•  Persist state (LangGraph checkpointing) so an in-flight reroute survives a crash.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COST</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The economics: inference cost is negligible — buy trust, not cheap tokens</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85800" y="1965960"/>
          <a:ext cx="6126480" cy="4114800"/>
        </p:xfrm>
        <a:graphic>
          <a:graphicData uri="http://schemas.openxmlformats.org/drawingml/2006/chart">
            <c:chart xmlns:c="http://schemas.openxmlformats.org/drawingml/2006/chart" r:id="rId2"/>
          </a:graphicData>
        </a:graphic>
      </p:graphicFrame>
      <p:sp>
        <p:nvSpPr>
          <p:cNvPr id="8" name="TextBox 7"/>
          <p:cNvSpPr txBox="1"/>
          <p:nvPr/>
        </p:nvSpPr>
        <p:spPr>
          <a:xfrm>
            <a:off x="7132320" y="2057400"/>
            <a:ext cx="4663440" cy="4206240"/>
          </a:xfrm>
          <a:prstGeom prst="rect">
            <a:avLst/>
          </a:prstGeom>
          <a:noFill/>
        </p:spPr>
        <p:txBody>
          <a:bodyPr wrap="square" anchor="t">
            <a:spAutoFit/>
          </a:bodyPr>
          <a:lstStyle/>
          <a:p>
            <a:pPr algn="l">
              <a:lnSpc>
                <a:spcPct val="105000"/>
              </a:lnSpc>
              <a:spcAft>
                <a:spcPts val="1100"/>
              </a:spcAft>
            </a:pPr>
            <a:r>
              <a:rPr sz="1400" b="1">
                <a:solidFill>
                  <a:srgbClr val="0B2545"/>
                </a:solidFill>
                <a:latin typeface="Calibri"/>
              </a:rPr>
              <a:t>~3,400 tokens per reroute (measured).</a:t>
            </a:r>
          </a:p>
          <a:p>
            <a:pPr algn="l">
              <a:lnSpc>
                <a:spcPct val="105000"/>
              </a:lnSpc>
              <a:spcAft>
                <a:spcPts val="1100"/>
              </a:spcAft>
            </a:pPr>
            <a:r>
              <a:rPr sz="1400" b="0">
                <a:solidFill>
                  <a:srgbClr val="1A1A2E"/>
                </a:solidFill>
                <a:latin typeface="Calibri"/>
              </a:rPr>
              <a:t>Even the big model costs ~$0.003 per reroute — about $30/mo at 10,000 reroutes.</a:t>
            </a:r>
          </a:p>
          <a:p>
            <a:pPr algn="l">
              <a:lnSpc>
                <a:spcPct val="105000"/>
              </a:lnSpc>
              <a:spcAft>
                <a:spcPts val="1100"/>
              </a:spcAft>
            </a:pPr>
            <a:r>
              <a:rPr sz="1400" b="0">
                <a:solidFill>
                  <a:srgbClr val="1A1A2E"/>
                </a:solidFill>
                <a:latin typeface="Calibri"/>
              </a:rPr>
              <a:t>A human expediter today: ~$15–30 in labour PLUS hours of delay per event.</a:t>
            </a:r>
          </a:p>
          <a:p>
            <a:pPr algn="l">
              <a:lnSpc>
                <a:spcPct val="105000"/>
              </a:lnSpc>
              <a:spcAft>
                <a:spcPts val="1100"/>
              </a:spcAft>
            </a:pPr>
            <a:r>
              <a:rPr sz="1400" b="1">
                <a:solidFill>
                  <a:srgbClr val="D64550"/>
                </a:solidFill>
                <a:latin typeface="Calibri"/>
              </a:rPr>
              <a:t>So the 70B's ~15× premium over the 8B is still trivial — dwarfed by the cost of ONE wrong autonomous booking.</a:t>
            </a:r>
          </a:p>
          <a:p>
            <a:pPr algn="l">
              <a:lnSpc>
                <a:spcPct val="105000"/>
              </a:lnSpc>
              <a:spcAft>
                <a:spcPts val="1100"/>
              </a:spcAft>
            </a:pPr>
            <a:r>
              <a:rPr sz="1400" b="0">
                <a:solidFill>
                  <a:srgbClr val="5B6470"/>
                </a:solidFill>
                <a:latin typeface="Calibri"/>
              </a:rPr>
              <a:t>Cost lever: route the cheap 8B for triage, the 70B (or a frontier model) only for the execution decision.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WHAT WE DON'T YET KNOW</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Risks &amp; open questions</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19"/>
            <a:ext cx="10789920" cy="4389120"/>
          </a:xfrm>
          <a:prstGeom prst="rect">
            <a:avLst/>
          </a:prstGeom>
          <a:noFill/>
        </p:spPr>
        <p:txBody>
          <a:bodyPr wrap="square">
            <a:spAutoFit/>
          </a:bodyPr>
          <a:lstStyle/>
          <a:p>
            <a:pPr>
              <a:lnSpc>
                <a:spcPct val="105000"/>
              </a:lnSpc>
              <a:spcAft>
                <a:spcPts val="1200"/>
              </a:spcAft>
            </a:pPr>
            <a:r>
              <a:rPr sz="1700" b="0">
                <a:solidFill>
                  <a:srgbClr val="1A1A2E"/>
                </a:solidFill>
                <a:latin typeface="Calibri"/>
              </a:rPr>
              <a:t>•  Evaluation breadth: 5 scenarios, one seed. Production needs many seeds + adversarial cases.</a:t>
            </a:r>
          </a:p>
          <a:p>
            <a:pPr>
              <a:lnSpc>
                <a:spcPct val="105000"/>
              </a:lnSpc>
              <a:spcAft>
                <a:spcPts val="1200"/>
              </a:spcAft>
            </a:pPr>
            <a:r>
              <a:rPr sz="1700" b="0">
                <a:solidFill>
                  <a:srgbClr val="1A1A2E"/>
                </a:solidFill>
                <a:latin typeface="Calibri"/>
              </a:rPr>
              <a:t>•  Closed-model baseline unmeasured: we should run the identical harness on Claude to quantify the gap.</a:t>
            </a:r>
          </a:p>
          <a:p>
            <a:pPr>
              <a:lnSpc>
                <a:spcPct val="105000"/>
              </a:lnSpc>
              <a:spcAft>
                <a:spcPts val="1200"/>
              </a:spcAft>
            </a:pPr>
            <a:r>
              <a:rPr sz="1700" b="0">
                <a:solidFill>
                  <a:srgbClr val="1A1A2E"/>
                </a:solidFill>
                <a:latin typeface="Calibri"/>
              </a:rPr>
              <a:t>•  Real tools misbehave differently: partial failures, latency spikes, schema drift.</a:t>
            </a:r>
          </a:p>
          <a:p>
            <a:pPr>
              <a:lnSpc>
                <a:spcPct val="105000"/>
              </a:lnSpc>
              <a:spcAft>
                <a:spcPts val="1200"/>
              </a:spcAft>
            </a:pPr>
            <a:r>
              <a:rPr sz="1700" b="0">
                <a:solidFill>
                  <a:srgbClr val="1A1A2E"/>
                </a:solidFill>
                <a:latin typeface="Calibri"/>
              </a:rPr>
              <a:t>•  Reasoning-quality auto-score is a proxy — it can't catch factual errors; needs LLM-as-judge.</a:t>
            </a:r>
          </a:p>
          <a:p>
            <a:pPr>
              <a:lnSpc>
                <a:spcPct val="105000"/>
              </a:lnSpc>
              <a:spcAft>
                <a:spcPts val="1200"/>
              </a:spcAft>
            </a:pPr>
            <a:r>
              <a:rPr sz="1700" b="0">
                <a:solidFill>
                  <a:srgbClr val="1A1A2E"/>
                </a:solidFill>
                <a:latin typeface="Calibri"/>
              </a:rPr>
              <a:t>•  Where is the human-escalation threshold set, and who owns the SLA on escalations?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lnSpc>
                <a:spcPct val="105000"/>
              </a:lnSpc>
              <a:spcAft>
                <a:spcPts val="800"/>
              </a:spcAft>
            </a:pPr>
            <a:r>
              <a:rPr sz="1300" b="1">
                <a:solidFill>
                  <a:srgbClr val="1B998B"/>
                </a:solidFill>
                <a:latin typeface="Calibri"/>
              </a:rPr>
              <a:t>NEXT STEPS</a:t>
            </a:r>
          </a:p>
        </p:txBody>
      </p:sp>
      <p:sp>
        <p:nvSpPr>
          <p:cNvPr id="5" name="TextBox 4"/>
          <p:cNvSpPr txBox="1"/>
          <p:nvPr/>
        </p:nvSpPr>
        <p:spPr>
          <a:xfrm>
            <a:off x="640080" y="658368"/>
            <a:ext cx="10972800" cy="914400"/>
          </a:xfrm>
          <a:prstGeom prst="rect">
            <a:avLst/>
          </a:prstGeom>
          <a:noFill/>
        </p:spPr>
        <p:txBody>
          <a:bodyPr wrap="square" anchor="t">
            <a:spAutoFit/>
          </a:bodyPr>
          <a:lstStyle/>
          <a:p>
            <a:pPr algn="l">
              <a:lnSpc>
                <a:spcPct val="105000"/>
              </a:lnSpc>
              <a:spcAft>
                <a:spcPts val="800"/>
              </a:spcAft>
            </a:pPr>
            <a:r>
              <a:rPr sz="3000" b="1">
                <a:solidFill>
                  <a:srgbClr val="0B2545"/>
                </a:solidFill>
                <a:latin typeface="Calibri"/>
              </a:rPr>
              <a:t>Roadmap</a:t>
            </a:r>
          </a:p>
        </p:txBody>
      </p:sp>
      <p:sp>
        <p:nvSpPr>
          <p:cNvPr id="6" name="Rectangle 5"/>
          <p:cNvSpPr/>
          <p:nvPr/>
        </p:nvSpPr>
        <p:spPr>
          <a:xfrm>
            <a:off x="658368" y="1536192"/>
            <a:ext cx="2011680" cy="381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11680"/>
            <a:ext cx="3520440" cy="64008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84831"/>
            <a:ext cx="3520440" cy="548640"/>
          </a:xfrm>
          <a:prstGeom prst="rect">
            <a:avLst/>
          </a:prstGeom>
          <a:noFill/>
        </p:spPr>
        <p:txBody>
          <a:bodyPr wrap="square" anchor="t">
            <a:spAutoFit/>
          </a:bodyPr>
          <a:lstStyle/>
          <a:p>
            <a:pPr algn="ctr">
              <a:lnSpc>
                <a:spcPct val="105000"/>
              </a:lnSpc>
              <a:spcAft>
                <a:spcPts val="800"/>
              </a:spcAft>
            </a:pPr>
            <a:r>
              <a:rPr sz="1600" b="1">
                <a:solidFill>
                  <a:srgbClr val="FFFFFF"/>
                </a:solidFill>
                <a:latin typeface="Calibri"/>
              </a:rPr>
              <a:t>Now → 4 wks</a:t>
            </a:r>
          </a:p>
        </p:txBody>
      </p:sp>
      <p:sp>
        <p:nvSpPr>
          <p:cNvPr id="9" name="TextBox 8"/>
          <p:cNvSpPr txBox="1"/>
          <p:nvPr/>
        </p:nvSpPr>
        <p:spPr>
          <a:xfrm>
            <a:off x="685800" y="2788920"/>
            <a:ext cx="3520440" cy="3291840"/>
          </a:xfrm>
          <a:prstGeom prst="rect">
            <a:avLst/>
          </a:prstGeom>
          <a:noFill/>
        </p:spPr>
        <p:txBody>
          <a:bodyPr wrap="square">
            <a:spAutoFit/>
          </a:bodyPr>
          <a:lstStyle/>
          <a:p>
            <a:pPr>
              <a:spcAft>
                <a:spcPts val="900"/>
              </a:spcAft>
            </a:pPr>
            <a:r>
              <a:rPr sz="1300">
                <a:solidFill>
                  <a:srgbClr val="1A1A2E"/>
                </a:solidFill>
              </a:rPr>
              <a:t>•  Run Claude on the same harness</a:t>
            </a:r>
          </a:p>
          <a:p>
            <a:pPr>
              <a:spcAft>
                <a:spcPts val="900"/>
              </a:spcAft>
            </a:pPr>
            <a:r>
              <a:rPr sz="1300">
                <a:solidFill>
                  <a:srgbClr val="1A1A2E"/>
                </a:solidFill>
              </a:rPr>
              <a:t>•  Expand to 25+ scenarios + seeds</a:t>
            </a:r>
          </a:p>
          <a:p>
            <a:pPr>
              <a:spcAft>
                <a:spcPts val="900"/>
              </a:spcAft>
            </a:pPr>
            <a:r>
              <a:rPr sz="1300">
                <a:solidFill>
                  <a:srgbClr val="1A1A2E"/>
                </a:solidFill>
              </a:rPr>
              <a:t>•  Add LLM-as-judge scoring</a:t>
            </a:r>
          </a:p>
        </p:txBody>
      </p:sp>
      <p:sp>
        <p:nvSpPr>
          <p:cNvPr id="10" name="Rectangle 9"/>
          <p:cNvSpPr/>
          <p:nvPr/>
        </p:nvSpPr>
        <p:spPr>
          <a:xfrm>
            <a:off x="4343400" y="2011680"/>
            <a:ext cx="3520440" cy="6400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2084831"/>
            <a:ext cx="3520440" cy="548640"/>
          </a:xfrm>
          <a:prstGeom prst="rect">
            <a:avLst/>
          </a:prstGeom>
          <a:noFill/>
        </p:spPr>
        <p:txBody>
          <a:bodyPr wrap="square" anchor="t">
            <a:spAutoFit/>
          </a:bodyPr>
          <a:lstStyle/>
          <a:p>
            <a:pPr algn="ctr">
              <a:lnSpc>
                <a:spcPct val="105000"/>
              </a:lnSpc>
              <a:spcAft>
                <a:spcPts val="800"/>
              </a:spcAft>
            </a:pPr>
            <a:r>
              <a:rPr sz="1600" b="1">
                <a:solidFill>
                  <a:srgbClr val="FFFFFF"/>
                </a:solidFill>
                <a:latin typeface="Calibri"/>
              </a:rPr>
              <a:t>1 → 2 mo</a:t>
            </a:r>
          </a:p>
        </p:txBody>
      </p:sp>
      <p:sp>
        <p:nvSpPr>
          <p:cNvPr id="12" name="TextBox 11"/>
          <p:cNvSpPr txBox="1"/>
          <p:nvPr/>
        </p:nvSpPr>
        <p:spPr>
          <a:xfrm>
            <a:off x="4343400" y="2788920"/>
            <a:ext cx="3520440" cy="3291840"/>
          </a:xfrm>
          <a:prstGeom prst="rect">
            <a:avLst/>
          </a:prstGeom>
          <a:noFill/>
        </p:spPr>
        <p:txBody>
          <a:bodyPr wrap="square">
            <a:spAutoFit/>
          </a:bodyPr>
          <a:lstStyle/>
          <a:p>
            <a:pPr>
              <a:spcAft>
                <a:spcPts val="900"/>
              </a:spcAft>
            </a:pPr>
            <a:r>
              <a:rPr sz="1300">
                <a:solidFill>
                  <a:srgbClr val="1A1A2E"/>
                </a:solidFill>
              </a:rPr>
              <a:t>•  Integrate one real carrier API</a:t>
            </a:r>
          </a:p>
          <a:p>
            <a:pPr>
              <a:spcAft>
                <a:spcPts val="900"/>
              </a:spcAft>
            </a:pPr>
            <a:r>
              <a:rPr sz="1300">
                <a:solidFill>
                  <a:srgbClr val="1A1A2E"/>
                </a:solidFill>
              </a:rPr>
              <a:t>•  Shadow-mode on live alerts (no execute)</a:t>
            </a:r>
          </a:p>
          <a:p>
            <a:pPr>
              <a:spcAft>
                <a:spcPts val="900"/>
              </a:spcAft>
            </a:pPr>
            <a:r>
              <a:rPr sz="1300">
                <a:solidFill>
                  <a:srgbClr val="1A1A2E"/>
                </a:solidFill>
              </a:rPr>
              <a:t>•  Guardrail + monitoring hardening</a:t>
            </a:r>
          </a:p>
        </p:txBody>
      </p:sp>
      <p:sp>
        <p:nvSpPr>
          <p:cNvPr id="13" name="Rectangle 12"/>
          <p:cNvSpPr/>
          <p:nvPr/>
        </p:nvSpPr>
        <p:spPr>
          <a:xfrm>
            <a:off x="7973568" y="2011680"/>
            <a:ext cx="3520440" cy="6400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73568" y="2084831"/>
            <a:ext cx="3520440" cy="548640"/>
          </a:xfrm>
          <a:prstGeom prst="rect">
            <a:avLst/>
          </a:prstGeom>
          <a:noFill/>
        </p:spPr>
        <p:txBody>
          <a:bodyPr wrap="square" anchor="t">
            <a:spAutoFit/>
          </a:bodyPr>
          <a:lstStyle/>
          <a:p>
            <a:pPr algn="ctr">
              <a:lnSpc>
                <a:spcPct val="105000"/>
              </a:lnSpc>
              <a:spcAft>
                <a:spcPts val="800"/>
              </a:spcAft>
            </a:pPr>
            <a:r>
              <a:rPr sz="1600" b="1">
                <a:solidFill>
                  <a:srgbClr val="FFFFFF"/>
                </a:solidFill>
                <a:latin typeface="Calibri"/>
              </a:rPr>
              <a:t>2 → 4 mo</a:t>
            </a:r>
          </a:p>
        </p:txBody>
      </p:sp>
      <p:sp>
        <p:nvSpPr>
          <p:cNvPr id="15" name="TextBox 14"/>
          <p:cNvSpPr txBox="1"/>
          <p:nvPr/>
        </p:nvSpPr>
        <p:spPr>
          <a:xfrm>
            <a:off x="7973568" y="2788920"/>
            <a:ext cx="3520440" cy="3291840"/>
          </a:xfrm>
          <a:prstGeom prst="rect">
            <a:avLst/>
          </a:prstGeom>
          <a:noFill/>
        </p:spPr>
        <p:txBody>
          <a:bodyPr wrap="square">
            <a:spAutoFit/>
          </a:bodyPr>
          <a:lstStyle/>
          <a:p>
            <a:pPr>
              <a:spcAft>
                <a:spcPts val="900"/>
              </a:spcAft>
            </a:pPr>
            <a:r>
              <a:rPr sz="1300">
                <a:solidFill>
                  <a:srgbClr val="1A1A2E"/>
                </a:solidFill>
              </a:rPr>
              <a:t>•  Limited autonomous execution</a:t>
            </a:r>
          </a:p>
          <a:p>
            <a:pPr>
              <a:spcAft>
                <a:spcPts val="900"/>
              </a:spcAft>
            </a:pPr>
            <a:r>
              <a:rPr sz="1300">
                <a:solidFill>
                  <a:srgbClr val="1A1A2E"/>
                </a:solidFill>
              </a:rPr>
              <a:t>•  Model-routing for cost</a:t>
            </a:r>
          </a:p>
          <a:p>
            <a:pPr>
              <a:spcAft>
                <a:spcPts val="900"/>
              </a:spcAft>
            </a:pPr>
            <a:r>
              <a:rPr sz="1300">
                <a:solidFill>
                  <a:srgbClr val="1A1A2E"/>
                </a:solidFill>
              </a:rPr>
              <a:t>•  Human-in-loop escalation console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97280"/>
          </a:xfrm>
          <a:prstGeom prst="rect">
            <a:avLst/>
          </a:prstGeom>
          <a:noFill/>
        </p:spPr>
        <p:txBody>
          <a:bodyPr wrap="square" anchor="t">
            <a:spAutoFit/>
          </a:bodyPr>
          <a:lstStyle/>
          <a:p>
            <a:pPr algn="l">
              <a:lnSpc>
                <a:spcPct val="105000"/>
              </a:lnSpc>
              <a:spcAft>
                <a:spcPts val="800"/>
              </a:spcAft>
            </a:pPr>
            <a:r>
              <a:rPr sz="3200" b="1">
                <a:solidFill>
                  <a:srgbClr val="FFFFFF"/>
                </a:solidFill>
                <a:latin typeface="Calibri"/>
              </a:rPr>
              <a:t>Autonomous rerouting is buildable today —</a:t>
            </a:r>
          </a:p>
          <a:p>
            <a:pPr algn="l">
              <a:lnSpc>
                <a:spcPct val="105000"/>
              </a:lnSpc>
              <a:spcAft>
                <a:spcPts val="800"/>
              </a:spcAft>
            </a:pPr>
            <a:r>
              <a:rPr sz="3200" b="1">
                <a:solidFill>
                  <a:srgbClr val="C9E4E0"/>
                </a:solidFill>
                <a:latin typeface="Calibri"/>
              </a:rPr>
              <a:t>the hard part is trust, and trust is measurable.</a:t>
            </a:r>
          </a:p>
        </p:txBody>
      </p:sp>
      <p:sp>
        <p:nvSpPr>
          <p:cNvPr id="5" name="TextBox 4"/>
          <p:cNvSpPr txBox="1"/>
          <p:nvPr/>
        </p:nvSpPr>
        <p:spPr>
          <a:xfrm>
            <a:off x="868680" y="3931920"/>
            <a:ext cx="10058400" cy="1371600"/>
          </a:xfrm>
          <a:prstGeom prst="rect">
            <a:avLst/>
          </a:prstGeom>
          <a:noFill/>
        </p:spPr>
        <p:txBody>
          <a:bodyPr wrap="square" anchor="t">
            <a:spAutoFit/>
          </a:bodyPr>
          <a:lstStyle/>
          <a:p>
            <a:pPr algn="l">
              <a:lnSpc>
                <a:spcPct val="105000"/>
              </a:lnSpc>
              <a:spcAft>
                <a:spcPts val="800"/>
              </a:spcAft>
            </a:pPr>
            <a:r>
              <a:rPr sz="1700" b="0">
                <a:solidFill>
                  <a:srgbClr val="9FB3C8"/>
                </a:solidFill>
                <a:latin typeface="Calibri"/>
              </a:rPr>
              <a:t>Working POC · real trajectory logs · a defensible model recommendation · a guardrailed path to production.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